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566928"/>
            <a:ext cx="1115568" cy="1041898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822960" y="184708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B.SC. THESIS DEFENSE  ·  DEPARTMENT OF CSE  ·  NPI UNIVERSITY OF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430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1F3A6E"/>
                </a:solidFill>
                <a:latin typeface="Segoe UI"/>
              </a:rPr>
              <a:t>UniBus Live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A2538"/>
                </a:solidFill>
                <a:latin typeface="Segoe UI"/>
              </a:rPr>
              <a:t>A Real-Time Bilingual University Bus Tracking System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A2538"/>
                </a:solidFill>
                <a:latin typeface="Segoe UI"/>
              </a:rPr>
              <a:t>with Reliable Dual-Source GPS 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4224528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247" y="4352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538"/>
                </a:solidFill>
                <a:latin typeface="Segoe UI"/>
              </a:rPr>
              <a:t>Md. Shishir Hossain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247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ID 0852220005101005  ·  Batch 12th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7087" y="4224528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4352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538"/>
                </a:solidFill>
                <a:latin typeface="Segoe UI"/>
              </a:rPr>
              <a:t>Md. Sajib Hasan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ID 0852220005101008  ·  Batch 12th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8927" y="4224528"/>
            <a:ext cx="3017520" cy="84124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4352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538"/>
                </a:solidFill>
                <a:latin typeface="Segoe UI"/>
              </a:rPr>
              <a:t>Md. Showkat Hossen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8927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ID 0852220005101009  ·  Batch 12th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Supervisor: Mahbubur Rahman Chowdhury, Senior Lecturer, Dept. of CSE, NPIUB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18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Waiting for a bus you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5A6B85"/>
                </a:solidFill>
                <a:latin typeface="Segoe UI"/>
              </a:rPr>
              <a:t>A student at the stop has no way to know: did the bus leave 5 minutes ago — or is it 15 minutes away?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3502152" cy="2286000"/>
          </a:xfrm>
          <a:prstGeom prst="roundRect">
            <a:avLst>
              <a:gd name="adj" fmla="val 8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D97706"/>
                </a:solidFill>
                <a:latin typeface="Segoe U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2538"/>
                </a:solidFill>
                <a:latin typeface="Segoe UI"/>
              </a:rPr>
              <a:t>Missed 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05072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The bus passed early; the student finds out too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9683" y="2697480"/>
            <a:ext cx="3502152" cy="2286000"/>
          </a:xfrm>
          <a:prstGeom prst="roundRect">
            <a:avLst>
              <a:gd name="adj" fmla="val 8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4003" y="297180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D97706"/>
                </a:solidFill>
                <a:latin typeface="Segoe UI"/>
              </a:rPr>
              <a:t>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4003" y="3520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2538"/>
                </a:solidFill>
                <a:latin typeface="Segoe UI"/>
              </a:rPr>
              <a:t>Long, uncertain waits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4003" y="4005072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Standing in heat or rain for time that could be saved.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7" y="2697480"/>
            <a:ext cx="3502152" cy="2286000"/>
          </a:xfrm>
          <a:prstGeom prst="roundRect">
            <a:avLst>
              <a:gd name="adj" fmla="val 8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97180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D97706"/>
                </a:solidFill>
                <a:latin typeface="Segoe UI"/>
              </a:rP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520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2538"/>
                </a:solidFill>
                <a:latin typeface="Segoe UI"/>
              </a:rPr>
              <a:t>No usable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005072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Commercial trackers: costly, operator-facing, English-only.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A2538"/>
                </a:solidFill>
                <a:latin typeface="Segoe UI"/>
              </a:rPr>
              <a:t>Our goal: </a:t>
            </a:r>
            <a:r>
              <a:rPr sz="1500" b="0">
                <a:solidFill>
                  <a:srgbClr val="5A6B85"/>
                </a:solidFill>
                <a:latin typeface="Segoe UI"/>
              </a:rPr>
              <a:t>let every student see their bus live, with the arrival time at their own stop — in their own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UniBus Live — one platform, four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587752" cy="288036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587752" cy="109728"/>
          </a:xfrm>
          <a:prstGeom prst="roundRect">
            <a:avLst>
              <a:gd name="adj" fmla="val 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15803D"/>
                </a:solidFill>
                <a:latin typeface="Segoe UI"/>
              </a:rPr>
              <a:t>PRIMARY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2538"/>
                </a:solidFill>
                <a:latin typeface="Segoe UI"/>
              </a:rPr>
              <a:t>GPS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Concox GT06S fixed in the bus.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Fully automatic — no driver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587752" cy="288036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920240"/>
            <a:ext cx="2587752" cy="109728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212848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FOR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2538"/>
                </a:solidFill>
                <a:latin typeface="Segoe UI"/>
              </a:rPr>
              <a:t>Passenger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27248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Live map · per-stop arrival times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94176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alerts · English + বাংলা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2587752" cy="288036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920240"/>
            <a:ext cx="2587752" cy="10972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12848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Segoe UI"/>
              </a:rPr>
              <a:t>BACKUP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2538"/>
                </a:solidFill>
                <a:latin typeface="Segoe UI"/>
              </a:rPr>
              <a:t>Driver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27248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Opt-in backup publisher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94176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used only when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920240"/>
            <a:ext cx="2587752" cy="288036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15400" y="1920240"/>
            <a:ext cx="2587752" cy="10972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212848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FOR TRANSPORT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2538"/>
                </a:solidFill>
                <a:latin typeface="Segoe UI"/>
              </a:rPr>
              <a:t>Admin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27248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Routes · schedules · fleet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694176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live operations map.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38928"/>
            <a:ext cx="10817352" cy="777240"/>
          </a:xfrm>
          <a:prstGeom prst="roundRect">
            <a:avLst>
              <a:gd name="adj" fmla="val 8000"/>
            </a:avLst>
          </a:prstGeom>
          <a:solidFill>
            <a:srgbClr val="EB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38928"/>
            <a:ext cx="108173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A2538"/>
                </a:solidFill>
                <a:latin typeface="Segoe UI"/>
              </a:rPr>
              <a:t>Everything runs on </a:t>
            </a:r>
            <a:r>
              <a:rPr sz="1450" b="1">
                <a:solidFill>
                  <a:srgbClr val="1F3A6E"/>
                </a:solidFill>
                <a:latin typeface="Segoe UI"/>
              </a:rPr>
              <a:t>one low-cost server</a:t>
            </a:r>
            <a:r>
              <a:rPr sz="1450" b="0">
                <a:solidFill>
                  <a:srgbClr val="1A2538"/>
                </a:solidFill>
                <a:latin typeface="Segoe UI"/>
              </a:rPr>
              <a:t> — Node.js · PostgreSQL · Redis · Traccar · Socket.IO. No paid cloud services.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THE PASSENGER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map is never blank</a:t>
            </a:r>
          </a:p>
        </p:txBody>
      </p:sp>
      <p:pic>
        <p:nvPicPr>
          <p:cNvPr id="5" name="Picture 4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750333" cy="379476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6" name="Picture 5" descr="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301" y="1828800"/>
            <a:ext cx="1750333" cy="379476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7" name="Picture 6" descr="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802" y="1828800"/>
            <a:ext cx="1750333" cy="379476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8" name="Picture 7" descr="p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03" y="1828800"/>
            <a:ext cx="1750333" cy="379476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sp>
        <p:nvSpPr>
          <p:cNvPr id="9" name="Rounded Rectangle 8"/>
          <p:cNvSpPr/>
          <p:nvPr/>
        </p:nvSpPr>
        <p:spPr>
          <a:xfrm>
            <a:off x="8628964" y="1828800"/>
            <a:ext cx="82296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7564" y="1828800"/>
            <a:ext cx="26455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Before departure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7564" y="2139696"/>
            <a:ext cx="26455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Bus visible at the depot — "getting ready", not a blank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28964" y="2798064"/>
            <a:ext cx="82296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7564" y="2798064"/>
            <a:ext cx="26455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On route,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7564" y="3108960"/>
            <a:ext cx="26455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Next stop and minutes away, updated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28964" y="3767328"/>
            <a:ext cx="82296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7564" y="3767328"/>
            <a:ext cx="26455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Today's schedules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7564" y="4078224"/>
            <a:ext cx="26455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Every route and departure at a glance.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8964" y="4736592"/>
            <a:ext cx="82296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7564" y="4736592"/>
            <a:ext cx="26455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English + বাংলা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7564" y="5047488"/>
            <a:ext cx="26455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The whole app in the rider's language.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Get-off alert: a push notification when the bus is within 80 m of your stop — even if the app is closed.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766E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Three layers, one low-cost server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374263" cy="448056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6675120" y="2148840"/>
            <a:ext cx="4828032" cy="1170432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23042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Segoe UI"/>
              </a:rPr>
              <a:t>Vehicle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1152" y="2660904"/>
            <a:ext cx="4389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Tracker reports every 5 s over GSM; driver phone is only a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520440"/>
            <a:ext cx="4828032" cy="1170432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36758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Segoe UI"/>
              </a:rPr>
              <a:t>One backend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4032504"/>
            <a:ext cx="4389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Traccar decodes · Node.js validates, computes ETAs, broadcasts · PostgreSQL + Redis.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892040"/>
            <a:ext cx="4828032" cy="1170432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50474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Segoe UI"/>
              </a:rPr>
              <a:t>Client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5404104"/>
            <a:ext cx="4389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Passenger app and admin console — pushed over WebSocket, not polled.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766E"/>
                </a:solidFill>
                <a:latin typeface="Segoe UI"/>
              </a:rPr>
              <a:t>REAL-TIME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From GPS fix to the student's screen</a:t>
            </a:r>
          </a:p>
        </p:txBody>
      </p:sp>
      <p:pic>
        <p:nvPicPr>
          <p:cNvPr id="5" name="Picture 4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4690781" cy="457200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6126480" y="2286000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54203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15803D"/>
                </a:solidFill>
                <a:latin typeface="Segoe UI"/>
              </a:rPr>
              <a:t>5.9 s</a:t>
            </a:r>
            <a:r>
              <a:rPr sz="1600" b="0">
                <a:solidFill>
                  <a:srgbClr val="5A6B85"/>
                </a:solidFill>
                <a:latin typeface="Segoe UI"/>
              </a:rPr>
              <a:t>  median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31012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from GPS fix on the bus to the server — measured over 46,286 real fixes.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16052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Capture &amp; decode — every 5 s, decoded in ≈1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66344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663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Pick best source · reject faulty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663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166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Compute the ETA for every stop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66928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6–7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669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Store, publish, push to every subscribed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Segoe UI"/>
              </a:rPr>
              <a:t>RELIABLE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Two independent sources, one automatic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283464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803D"/>
                </a:solidFill>
                <a:latin typeface="Segoe UI"/>
              </a:rPr>
              <a:t>PRIMARY — GPS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1A2538"/>
                </a:solidFill>
                <a:latin typeface="Segoe UI"/>
              </a:rPr>
              <a:t>Works completely on its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Hard-wired in the bus, reports every 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Trip starts automatically from its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No driver action, phone, or data plan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828800"/>
            <a:ext cx="5120640" cy="2834640"/>
          </a:xfrm>
          <a:prstGeom prst="roundRect">
            <a:avLst>
              <a:gd name="adj" fmla="val 8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08483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BACKUP — DRIVER'S PHONE (OPT-IN)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1A2538"/>
                </a:solidFill>
                <a:latin typeface="Segoe UI"/>
              </a:rPr>
              <a:t>Only when a trip needs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0175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Driver must be assigned and start sharing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4747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Covers buses without a tracker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9319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Normal operation never depends on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56048"/>
            <a:ext cx="10817352" cy="96012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108173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1A2538"/>
                </a:solidFill>
                <a:latin typeface="Segoe UI"/>
              </a:rPr>
              <a:t>The server scores both sources on every fix and picks the best one automatically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B85"/>
                </a:solidFill>
                <a:latin typeface="Segoe UI"/>
              </a:rPr>
              <a:t>tracker preferred when healthy · switches mid-trip with no visible jump · what is automatic is the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Segoe UI"/>
              </a:rPr>
              <a:t>SMART ARRIVAL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A simple estimator that works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3716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1735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F3A6E"/>
                </a:solidFill>
                <a:latin typeface="Segoe UI"/>
              </a:rPr>
              <a:t>ETA  =  remaining distance along the route  ÷  recent average speed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computed for every stop ahead, on every accepted GPS 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840480"/>
            <a:ext cx="2990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Segoe UI"/>
              </a:rPr>
              <a:t>Route-aware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6110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The fix is projected onto the route line, so sideways GPS error doesn't break the estimate.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9683" y="36118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716" y="3840480"/>
            <a:ext cx="2990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Segoe UI"/>
              </a:rPr>
              <a:t>Honest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716" y="426110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Every estimate is labeled High / Medium / Low from the quality of the speed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36118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3840480"/>
            <a:ext cx="2990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Segoe UI"/>
              </a:rPr>
              <a:t>No 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426110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Works from the first day — while logging every prediction so an ML model can come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5A6B85"/>
                </a:solidFill>
                <a:latin typeface="Segoe UI"/>
              </a:rPr>
              <a:t>Arrival radius 80 m — reaching it marks the stop and fires the rider's get-off alert.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Seven weeks on the real fleet — zero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1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9008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weeks live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6 May – 23 Jun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9683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9683" y="2221991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564" y="299008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7" y="196596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7" y="2221991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99008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buses (1 with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hardware tracker)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0176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registered riders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9683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9683" y="4233672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564" y="500176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completed trips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3977639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4233672"/>
            <a:ext cx="3502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1F3A6E"/>
                </a:solidFill>
                <a:latin typeface="Segoe UI"/>
              </a:rPr>
              <a:t>46,548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7" y="5001768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GPS reports ingested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Every number in this defense comes from the production database of this 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RESULT ·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map reflects reality within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400" b="1">
                <a:solidFill>
                  <a:srgbClr val="2563EB"/>
                </a:solidFill>
                <a:latin typeface="Segoe UI"/>
              </a:rPr>
              <a:t>5.9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5A6B85"/>
                </a:solidFill>
                <a:latin typeface="Segoe UI"/>
              </a:rPr>
              <a:t>median latency, GPS fix →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Bounded mainly by the 8 s polling interval — push delivery itself takes ≈1 s. A further 1.2 s (median) to persist each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2538"/>
                </a:solidFill>
                <a:latin typeface="Segoe UI"/>
              </a:rPr>
              <a:t>Latency across 46,286 fixes (seconds)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59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615184"/>
            <a:ext cx="2138542" cy="25603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94790" y="257860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538"/>
                </a:solidFill>
                <a:latin typeface="Segoe UI"/>
              </a:rPr>
              <a:t>5.9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186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474720"/>
            <a:ext cx="2682240" cy="25603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8488" y="343814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538"/>
                </a:solidFill>
                <a:latin typeface="Segoe UI"/>
              </a:rPr>
              <a:t>7.4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78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90th percentile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334256"/>
            <a:ext cx="3588402" cy="25603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4650" y="42976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538"/>
                </a:solidFill>
                <a:latin typeface="Segoe UI"/>
              </a:rPr>
              <a:t>9.9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A6B85"/>
                </a:solidFill>
                <a:latin typeface="Segoe UI"/>
              </a:rPr>
              <a:t>95th percentile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193792"/>
            <a:ext cx="4023360" cy="25603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79607" y="515721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538"/>
                </a:solidFill>
                <a:latin typeface="Segoe UI"/>
              </a:rPr>
              <a:t>11.1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RESULT · RELIABILITY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backup carried real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A2538"/>
                </a:solidFill>
                <a:latin typeface="Segoe UI"/>
              </a:rPr>
              <a:t>Which source tracked the 70 sourced trips?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95728"/>
            <a:ext cx="6904817" cy="7772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7193" y="2395728"/>
            <a:ext cx="3875958" cy="77724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64%  GPS tracker  (45 trips)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3225" y="254203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36%  phone backup  (25)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The 36% were mostly the two buses not yet fitted with trackers — coverage never stopped. Fleet-wide trackers will shrink this to a rare safety 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6052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79392"/>
            <a:ext cx="35021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803D"/>
                </a:solidFill>
                <a:latin typeface="Segoe U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85232"/>
            <a:ext cx="3319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of arrival &amp; service notifications
were read by riders (36 of 45)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416052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4279392"/>
            <a:ext cx="35021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3A6E"/>
                </a:solidFill>
                <a:latin typeface="Segoe UI"/>
              </a:rPr>
              <a:t>80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5285232"/>
            <a:ext cx="3319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arrival radius that triggers
the get-off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416052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4279392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5285232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passenger-visible jumps during
mid-trip source handovers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A HIDDEN PROBLEM —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pilot's most valuable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120640" cy="3017520"/>
          </a:xfrm>
          <a:prstGeom prst="roundRect">
            <a:avLst>
              <a:gd name="adj" fmla="val 8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800" b="1">
                <a:solidFill>
                  <a:srgbClr val="D97706"/>
                </a:solidFill>
                <a:latin typeface="Segoe UI"/>
              </a:rP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A2538"/>
                </a:solidFill>
                <a:latin typeface="Segoe UI"/>
              </a:rPr>
              <a:t>of 46,548 GPS reports were pure waste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A6B85"/>
                </a:solidFill>
                <a:latin typeface="Segoe UI"/>
              </a:rPr>
              <a:t>buses kept transmitting every 5 seconds even while parked overnight — only 864 reports fell inside a real 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3017520"/>
            <a:ext cx="594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74519"/>
            <a:ext cx="5120640" cy="30175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14884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800" b="1">
                <a:solidFill>
                  <a:srgbClr val="15803D"/>
                </a:solidFill>
                <a:latin typeface="Segoe UI"/>
              </a:rPr>
              <a:t>60×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329184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A2538"/>
                </a:solidFill>
                <a:latin typeface="Segoe UI"/>
              </a:rPr>
              <a:t>less parked-time reporting after our fix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A6B85"/>
                </a:solidFill>
                <a:latin typeface="Segoe UI"/>
              </a:rPr>
              <a:t>device: 5 s → 300 s when parked (one SMS: TIMER,5,300#)  ·  server polling: 8 s → 60 s when idle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57800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A6B85"/>
                </a:solidFill>
                <a:latin typeface="Segoe UI"/>
              </a:rPr>
              <a:t>Invisible in design, unmistakable in real data — and fixed at both the device and the server </a:t>
            </a:r>
            <a:r>
              <a:rPr sz="1350" b="1">
                <a:solidFill>
                  <a:srgbClr val="1A2538"/>
                </a:solidFill>
                <a:latin typeface="Segoe UI"/>
              </a:rPr>
              <a:t>without touching live tracking.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Segoe UI"/>
              </a:rPr>
              <a:t>THE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transport office sees everything</a:t>
            </a:r>
          </a:p>
        </p:txBody>
      </p:sp>
      <p:pic>
        <p:nvPicPr>
          <p:cNvPr id="5" name="Picture 4" descr="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2963427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6" name="Picture 5" descr="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28800"/>
            <a:ext cx="5257800" cy="2949974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85800" y="49834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Live operations — whole fleet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49834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B85"/>
                </a:solidFill>
                <a:latin typeface="Segoe UI"/>
              </a:rPr>
              <a:t>Route builder — stops, distance, travel time on the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6B85"/>
                </a:solidFill>
                <a:latin typeface="Segoe UI"/>
              </a:rPr>
              <a:t>Also: buses, GPS devices, schedules, stops, users, analytics — one web console, same API as the apps.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THE DRIVER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The opt-in backup, kept deliberately simple</a:t>
            </a:r>
          </a:p>
        </p:txBody>
      </p:sp>
      <p:pic>
        <p:nvPicPr>
          <p:cNvPr id="5" name="Picture 4" descr="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813598" cy="393192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6" name="Picture 5" descr="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718" y="1828800"/>
            <a:ext cx="1813598" cy="393192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pic>
        <p:nvPicPr>
          <p:cNvPr id="7" name="Picture 6" descr="d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636" y="1828800"/>
            <a:ext cx="1813598" cy="3931920"/>
          </a:xfrm>
          <a:prstGeom prst="rect">
            <a:avLst/>
          </a:prstGeom>
          <a:ln w="12700">
            <a:solidFill>
              <a:srgbClr val="DDE5F0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7178154" y="18288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754" y="1828800"/>
            <a:ext cx="40963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Shares nothing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754" y="2148840"/>
            <a:ext cx="40963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Location goes out only between Start trip and End trip.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154" y="2852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754" y="2852928"/>
            <a:ext cx="40963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Choose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754" y="3172968"/>
            <a:ext cx="40963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Bus device or my phone — visible on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154" y="3877056"/>
            <a:ext cx="82296" cy="8686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754" y="3877056"/>
            <a:ext cx="40963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Live 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754" y="4197096"/>
            <a:ext cx="40963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Driver sees speed, GPS accuracy and update age while publishing.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154" y="4901184"/>
            <a:ext cx="82296" cy="8686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754" y="4901184"/>
            <a:ext cx="40963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538"/>
                </a:solidFill>
                <a:latin typeface="Segoe UI"/>
              </a:rPr>
              <a:t>Drivers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754" y="5221224"/>
            <a:ext cx="40963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B85"/>
                </a:solidFill>
                <a:latin typeface="Segoe UI"/>
              </a:rPr>
              <a:t>Assigned driver + driver role required — an authorization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4864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HONEST LIMITS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1A2538"/>
                </a:solidFill>
                <a:latin typeface="Segoe UI"/>
              </a:rPr>
              <a:t>A feasibility pilot, and a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406908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Small pilot: 7 weeks, 3 buses, 38 riders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Only one bus carried the hardware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ETA error (MAE) still accumulating — every prediction is logged for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4632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Timetable linkage incomplete during the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828800"/>
            <a:ext cx="5120640" cy="4069080"/>
          </a:xfrm>
          <a:prstGeom prst="roundRect">
            <a:avLst>
              <a:gd name="adj" fmla="val 8000"/>
            </a:avLst>
          </a:prstGeom>
          <a:solidFill>
            <a:srgbClr val="EB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51460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ML arrival prediction trained on our logged trip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29184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Trackers on every bus — phone becomes a rare safety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406908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Ignition-wired (ACC) reporting: device sleeps with the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84632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>
                <a:solidFill>
                  <a:srgbClr val="5A6B85"/>
                </a:solidFill>
                <a:latin typeface="Segoe UI"/>
              </a:rPr>
              <a:t>Occupancy info and a formal usability study at larger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UniBus Live · 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A97A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6EC"/>
                </a:solidFill>
                <a:latin typeface="Segoe UI"/>
              </a:rPr>
              <a:t>Questions welcome — every number is from our production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5.9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median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7975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7975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46,548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7975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GPS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9343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9343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343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real trips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0711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0711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64 /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tracker vs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2079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2079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60×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2079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idle waste cut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3447" y="3977639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447" y="4133087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447" y="4645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9D6EC"/>
                </a:solidFill>
                <a:latin typeface="Segoe UI"/>
              </a:rPr>
              <a:t>alerts 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CCC"/>
                </a:solidFill>
                <a:latin typeface="Segoe UI"/>
              </a:rPr>
              <a:t>UniBus Live · Team UniBus · Dept. of CSE · NPI University of Bangladesh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