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4" r:id="rId25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50" b="1" i="0" spc="340">
                <a:solidFill>
                  <a:srgbClr val="1F3A6E"/>
                </a:solidFill>
                <a:latin typeface="Segoe UI"/>
              </a:rPr>
              <a:t>IEEE CONFERENCE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481328"/>
            <a:ext cx="10607040" cy="9144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5200" b="1" i="0">
                <a:solidFill>
                  <a:srgbClr val="1A2538"/>
                </a:solidFill>
                <a:latin typeface="Segoe UI"/>
              </a:rPr>
              <a:t>UniBus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87168"/>
            <a:ext cx="10241280" cy="10058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1F3A6E"/>
                </a:solidFill>
                <a:latin typeface="Segoe UI"/>
              </a:rPr>
              <a:t>A Real-Time Bilingual University Bus Tracking System</a:t>
            </a:r>
          </a:p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1F3A6E"/>
                </a:solidFill>
                <a:latin typeface="Segoe UI"/>
              </a:rPr>
              <a:t>with Resilient Dual-Source GPS Acquisition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94760"/>
            <a:ext cx="4114800" cy="0"/>
          </a:xfrm>
          <a:prstGeom prst="line">
            <a:avLst/>
          </a:prstGeom>
          <a:ln w="15240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041648"/>
            <a:ext cx="105156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500" b="1" i="0">
                <a:solidFill>
                  <a:srgbClr val="1A2538"/>
                </a:solidFill>
                <a:latin typeface="Segoe UI"/>
              </a:rPr>
              <a:t>Md. Shishir Hossain      Md. Sajib Hassan      Md. Showkat Hossen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50" b="0" i="0">
                <a:solidFill>
                  <a:srgbClr val="5A6B85"/>
                </a:solidFill>
                <a:latin typeface="Segoe UI"/>
              </a:rPr>
              <a:t>Supervisor: Mahbubur Rahman Chowdhury, Senior Lecturer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5A6B85"/>
                </a:solidFill>
                <a:latin typeface="Segoe UI"/>
              </a:rPr>
              <a:t>Department of Computer Science and Engineering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5A6B85"/>
                </a:solidFill>
                <a:latin typeface="Segoe UI"/>
              </a:rPr>
              <a:t>NPI University of Bangladesh, Manikganj, Dhaka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6080760"/>
            <a:ext cx="10543032" cy="0"/>
          </a:xfrm>
          <a:prstGeom prst="line">
            <a:avLst/>
          </a:prstGeom>
          <a:ln w="27940">
            <a:solidFill>
              <a:srgbClr val="E1E7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72668" y="6030468"/>
            <a:ext cx="100584" cy="100584"/>
          </a:xfrm>
          <a:prstGeom prst="ellipse">
            <a:avLst/>
          </a:prstGeom>
          <a:solidFill>
            <a:srgbClr val="D97706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07308" y="6030468"/>
            <a:ext cx="100584" cy="100584"/>
          </a:xfrm>
          <a:prstGeom prst="ellipse">
            <a:avLst/>
          </a:prstGeom>
          <a:solidFill>
            <a:srgbClr val="0F766E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6030468"/>
            <a:ext cx="100584" cy="100584"/>
          </a:xfrm>
          <a:prstGeom prst="ellipse">
            <a:avLst/>
          </a:prstGeom>
          <a:solidFill>
            <a:srgbClr val="7C3AED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76588" y="6030468"/>
            <a:ext cx="100584" cy="100584"/>
          </a:xfrm>
          <a:prstGeom prst="ellipse">
            <a:avLst/>
          </a:prstGeom>
          <a:solidFill>
            <a:srgbClr val="15803D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15700" y="6030468"/>
            <a:ext cx="100584" cy="100584"/>
          </a:xfrm>
          <a:prstGeom prst="ellipse">
            <a:avLst/>
          </a:prstGeom>
          <a:solidFill>
            <a:srgbClr val="1F3A6E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38344" y="5998464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1F3A6E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Outline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83080"/>
            <a:ext cx="777240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Segoe UI"/>
              </a:rPr>
              <a:t>Problem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85416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why campus riders wait blind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569464"/>
            <a:ext cx="10469880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2679191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777240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Segoe UI"/>
              </a:rPr>
              <a:t>Our Approach &amp; 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081527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hardware-first tracking, geometric ETA, bilingual UX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465575"/>
            <a:ext cx="10469880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575304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575304"/>
            <a:ext cx="777240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Segoe UI"/>
              </a:rPr>
              <a:t>System Architecture &amp;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977640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acquisition, filtering, ETA, realtime delivery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361688"/>
            <a:ext cx="10469880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4471416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71416"/>
            <a:ext cx="777240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Segoe UI"/>
              </a:rPr>
              <a:t>Pilot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873752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seven weeks of operational data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5257800"/>
            <a:ext cx="10469880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5367528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000" b="1" i="0">
                <a:solidFill>
                  <a:srgbClr val="15803D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367528"/>
            <a:ext cx="777240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700" b="1" i="0">
                <a:solidFill>
                  <a:srgbClr val="15803D"/>
                </a:solidFill>
                <a:latin typeface="Segoe UI"/>
              </a:rPr>
              <a:t>Findings, Limitations &amp; 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769864"/>
            <a:ext cx="86868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the 98% discovery and its fix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D97706"/>
                </a:solidFill>
                <a:latin typeface="Segoe UI"/>
              </a:rP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Riders Wait Without Information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EAB4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7315200" cy="10058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92807"/>
            <a:ext cx="45720" cy="786384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633573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084831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20" y="1911095"/>
            <a:ext cx="63093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550" b="1" i="0">
                <a:solidFill>
                  <a:srgbClr val="1A2538"/>
                </a:solidFill>
                <a:latin typeface="Segoe UI"/>
              </a:rPr>
              <a:t>No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86000"/>
            <a:ext cx="630936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A student at the stop cannot tell whether the bus left five minutes ago or is fifteen minutes away.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53512"/>
            <a:ext cx="7315200" cy="10058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063240"/>
            <a:ext cx="45720" cy="786384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97873539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255264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45920" y="3081528"/>
            <a:ext cx="63093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550" b="1" i="0">
                <a:solidFill>
                  <a:srgbClr val="1A2538"/>
                </a:solidFill>
                <a:latin typeface="Segoe UI"/>
              </a:rPr>
              <a:t>Timetables alone 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56432"/>
            <a:ext cx="630936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Dhaka–Manikganj traffic makes printed schedules unreliable; uncertainty causes missed buses and long waits.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23944"/>
            <a:ext cx="7315200" cy="10058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233672"/>
            <a:ext cx="45720" cy="786384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_35603492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25696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5920" y="4251959"/>
            <a:ext cx="63093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550" b="1" i="0">
                <a:solidFill>
                  <a:srgbClr val="1A2538"/>
                </a:solidFill>
                <a:latin typeface="Segoe UI"/>
              </a:rPr>
              <a:t>Existing products don't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626864"/>
            <a:ext cx="630936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Commercial fleet trackers are costly, operator-facing, and English-only — they never answer the rider's question.</a:t>
            </a:r>
          </a:p>
        </p:txBody>
      </p:sp>
      <p:pic>
        <p:nvPicPr>
          <p:cNvPr id="23" name="Picture 22" descr="story_bef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272283"/>
            <a:ext cx="3401568" cy="25511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03978" y="2629448"/>
            <a:ext cx="1700784" cy="102047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Segoe UI"/>
              </a:rPr>
              <a:t>Did it already leave?</a:t>
            </a:r>
          </a:p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Segoe UI"/>
              </a:rPr>
              <a:t>How much longer?</a:t>
            </a:r>
          </a:p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D97706"/>
                </a:solidFill>
                <a:latin typeface="Segoe UI"/>
              </a:rPr>
              <a:t>… still waiting.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32120"/>
            <a:ext cx="1088136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700" b="1" i="1">
                <a:solidFill>
                  <a:srgbClr val="D97706"/>
                </a:solidFill>
                <a:latin typeface="Segoe UI"/>
              </a:rPr>
              <a:t>“When does my bus reach my stop?”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D97706"/>
                </a:solidFill>
                <a:latin typeface="Segoe U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What Exists, and the Gap We Fill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EAB4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1" i="0" spc="240">
                <a:solidFill>
                  <a:srgbClr val="5A6B85"/>
                </a:solidFill>
                <a:latin typeface="Segoe UI"/>
              </a:rPr>
              <a:t>PRIOR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27632"/>
            <a:ext cx="3931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1" i="0" spc="240">
                <a:solidFill>
                  <a:srgbClr val="5A6B85"/>
                </a:solidFill>
                <a:latin typeface="Segoe UI"/>
              </a:rPr>
              <a:t>LIMITATION FOR OUR SETTING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56816"/>
            <a:ext cx="630936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D97706"/>
                </a:solidFill>
                <a:latin typeface="Segoe UI"/>
              </a:rPr>
              <a:t>Campus tracking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22576"/>
            <a:ext cx="630936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5A6B85"/>
                </a:solidFill>
                <a:latin typeface="Segoe UI"/>
              </a:rPr>
              <a:t>Sharif et al. ’18 · Premkumar et al. ’20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048256"/>
            <a:ext cx="3931920" cy="5943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single on-board source; English-only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706624"/>
            <a:ext cx="10469880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2816352"/>
            <a:ext cx="630936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D97706"/>
                </a:solidFill>
                <a:latin typeface="Segoe UI"/>
              </a:rPr>
              <a:t>Crowdsourced 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82112"/>
            <a:ext cx="630936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5A6B85"/>
                </a:solidFill>
                <a:latin typeface="Segoe UI"/>
              </a:rPr>
              <a:t>Zhou et al. (MobiSys ’12) · Wepulanon et al. ’18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907792"/>
            <a:ext cx="3931920" cy="5943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depends on passenger participation; coverage gaps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3566160"/>
            <a:ext cx="10469880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3675887"/>
            <a:ext cx="630936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D97706"/>
                </a:solidFill>
                <a:latin typeface="Segoe UI"/>
              </a:rPr>
              <a:t>Learned ETA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1648"/>
            <a:ext cx="630936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5A6B85"/>
                </a:solidFill>
                <a:latin typeface="Segoe UI"/>
              </a:rPr>
              <a:t>SVR/Spark · deep networks · BusTr (Google, KDD ’20)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767327"/>
            <a:ext cx="3931920" cy="5943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needs large historical data a new campus lacks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4425696"/>
            <a:ext cx="10469880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4535424"/>
            <a:ext cx="630936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D97706"/>
                </a:solidFill>
                <a:latin typeface="Segoe UI"/>
              </a:rPr>
              <a:t>Map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01184"/>
            <a:ext cx="630936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5A6B85"/>
                </a:solidFill>
                <a:latin typeface="Segoe UI"/>
              </a:rPr>
              <a:t>Newson &amp; Krumm (SIGSPATIAL ’09)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626864"/>
            <a:ext cx="3931920" cy="5943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heavier than needed for a small fixed-route fleet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86400"/>
            <a:ext cx="10561320" cy="7772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5596128"/>
            <a:ext cx="45720" cy="557784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605272"/>
            <a:ext cx="10149840" cy="5943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2538"/>
                </a:solidFill>
                <a:latin typeface="Segoe UI"/>
              </a:rPr>
              <a:t>UniBus Live: a deployed, low-cost system — autonomous hardware tracking, a training-data-free ETA estimator,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2538"/>
                </a:solidFill>
                <a:latin typeface="Segoe UI"/>
              </a:rPr>
              <a:t>and a bilingual passenger experience — evaluated on a real campus fleet.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0F766E"/>
                </a:solidFill>
                <a:latin typeface="Segoe UI"/>
              </a:rPr>
              <a:t>THIS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Contributions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7BB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5138928" cy="20116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92807"/>
            <a:ext cx="45720" cy="1792224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1094457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039112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4208" y="1984248"/>
            <a:ext cx="4114800" cy="6858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0F766E"/>
                </a:solidFill>
                <a:latin typeface="Segoe UI"/>
              </a:rPr>
              <a:t>Tracking that never depends on the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651760"/>
            <a:ext cx="4114800" cy="10515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0" i="0">
                <a:solidFill>
                  <a:srgbClr val="5A6B85"/>
                </a:solidFill>
                <a:latin typeface="Segoe UI"/>
              </a:rPr>
              <a:t>An autonomous fixed GT06S tracker is the primary source — no driver device, action, or connectivity required. An optional smartphone fallback is arbitrated automatically by source 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783080"/>
            <a:ext cx="5138928" cy="20116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1892807"/>
            <a:ext cx="45720" cy="1792224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8172113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039112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86600" y="1984248"/>
            <a:ext cx="4114800" cy="6858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0F766E"/>
                </a:solidFill>
                <a:latin typeface="Segoe UI"/>
              </a:rPr>
              <a:t>Arrival times without training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51760"/>
            <a:ext cx="4114800" cy="10515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0" i="0">
                <a:solidFill>
                  <a:srgbClr val="5A6B85"/>
                </a:solidFill>
                <a:latin typeface="Segoe UI"/>
              </a:rPr>
              <a:t>Live position projected onto the route polyline; per-stop arrival times from a rolling-average speed, each labelled HIGH / MEDIUM / LOW confidence. Works from day 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95928"/>
            <a:ext cx="5138928" cy="20116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05656"/>
            <a:ext cx="45720" cy="1792224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_80392425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251960"/>
            <a:ext cx="402336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4208" y="4197096"/>
            <a:ext cx="4114800" cy="6858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0F766E"/>
                </a:solidFill>
                <a:latin typeface="Segoe UI"/>
              </a:rPr>
              <a:t>Pre-trip awareness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864608"/>
            <a:ext cx="4114800" cy="10515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0" i="0">
                <a:solidFill>
                  <a:srgbClr val="5A6B85"/>
                </a:solidFill>
                <a:latin typeface="Segoe UI"/>
              </a:rPr>
              <a:t>Riders see the bus state (parked, approaching, at origin) before departure; trips auto-start from the origin geofence. The map is never blank.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995928"/>
            <a:ext cx="5138928" cy="20116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45352" y="4105656"/>
            <a:ext cx="45720" cy="1792224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_28945672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251960"/>
            <a:ext cx="402336" cy="40233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86600" y="4197096"/>
            <a:ext cx="4114800" cy="6858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0F766E"/>
                </a:solidFill>
                <a:latin typeface="Segoe UI"/>
              </a:rPr>
              <a:t>Deployed bilingual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864608"/>
            <a:ext cx="4114800" cy="10515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0" i="0">
                <a:solidFill>
                  <a:srgbClr val="5A6B85"/>
                </a:solidFill>
                <a:latin typeface="Segoe UI"/>
              </a:rPr>
              <a:t>React Native passenger app (English / Bangla) and a Next.js operations console, evaluated in a seven-week pilot on a real fleet.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2563EB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Three Tiers, One Live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87A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656028"/>
            <a:ext cx="5779008" cy="45517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83080"/>
            <a:ext cx="457200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Two communication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148840"/>
            <a:ext cx="45720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Stateless REST for command/query; a persistent WebSocket channel pushes live vehicle state.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20" y="2752344"/>
            <a:ext cx="4480560" cy="0"/>
          </a:xfrm>
          <a:prstGeom prst="line">
            <a:avLst/>
          </a:prstGeom>
          <a:ln w="9525">
            <a:solidFill>
              <a:srgbClr val="C1D3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03720" y="2898648"/>
            <a:ext cx="457200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Push-first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264408"/>
            <a:ext cx="45720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Traccar's WebSocket delivers each fix in about a second; an 8 s REST poll acts only as the safety net.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03720" y="3867912"/>
            <a:ext cx="4480560" cy="0"/>
          </a:xfrm>
          <a:prstGeom prst="line">
            <a:avLst/>
          </a:prstGeom>
          <a:ln w="9525">
            <a:solidFill>
              <a:srgbClr val="C1D3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03720" y="4014215"/>
            <a:ext cx="457200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One room per trip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379976"/>
            <a:ext cx="45720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Socket.IO rooms bound per-client traffic to the single bus being watched; Redis fans events out across server processes.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03720" y="4983479"/>
            <a:ext cx="4480560" cy="0"/>
          </a:xfrm>
          <a:prstGeom prst="line">
            <a:avLst/>
          </a:prstGeom>
          <a:ln w="9525">
            <a:solidFill>
              <a:srgbClr val="C1D3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03720" y="5129784"/>
            <a:ext cx="457200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Self-hosted, low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495544"/>
            <a:ext cx="45720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Traccar and the application server run on one low-cost VPS — within a student-project budget.</a:t>
            </a:r>
          </a:p>
        </p:txBody>
      </p:sp>
      <p:pic>
        <p:nvPicPr>
          <p:cNvPr id="21" name="Picture 20" descr="fig1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68" y="1710892"/>
            <a:ext cx="5261462" cy="44420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2563EB"/>
                </a:solidFill>
                <a:latin typeface="Segoe UI"/>
              </a:rPr>
              <a:t>REAL-TIME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One Position Report, Start to Finish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87A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656028"/>
            <a:ext cx="5779008" cy="45517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83080"/>
            <a:ext cx="457200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Typical delay: 5.9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148840"/>
            <a:ext cx="45720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Half of all 46,286 reports reached the server within 5.9 s of the GPS fix; the average was 7.4 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20" y="2752344"/>
            <a:ext cx="4480560" cy="0"/>
          </a:xfrm>
          <a:prstGeom prst="line">
            <a:avLst/>
          </a:prstGeom>
          <a:ln w="9525">
            <a:solidFill>
              <a:srgbClr val="C1D3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03720" y="2898648"/>
            <a:ext cx="457200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Cleaned before it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264408"/>
            <a:ext cx="45720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Inaccurate readings, impossible jumps and GPS jitter are dropped before they can move the map.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03720" y="3867912"/>
            <a:ext cx="4480560" cy="0"/>
          </a:xfrm>
          <a:prstGeom prst="line">
            <a:avLst/>
          </a:prstGeom>
          <a:ln w="9525">
            <a:solidFill>
              <a:srgbClr val="C1D3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03720" y="4014215"/>
            <a:ext cx="457200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Every stop, every rider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379976"/>
            <a:ext cx="45720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Each accepted update refreshes the arrival time for every stop still ahead, so riders see their own stop.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03720" y="4983479"/>
            <a:ext cx="4480560" cy="0"/>
          </a:xfrm>
          <a:prstGeom prst="line">
            <a:avLst/>
          </a:prstGeom>
          <a:ln w="9525">
            <a:solidFill>
              <a:srgbClr val="C1D3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03720" y="5129784"/>
            <a:ext cx="4572000" cy="3474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Pushed, not polled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495544"/>
            <a:ext cx="45720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Phones receive each update instantly over WebSocket — the app never has to ask for it.</a:t>
            </a:r>
          </a:p>
        </p:txBody>
      </p:sp>
      <p:pic>
        <p:nvPicPr>
          <p:cNvPr id="21" name="Picture 20" descr="fig2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946" y="1710892"/>
            <a:ext cx="4555307" cy="44420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2563EB"/>
                </a:solidFill>
                <a:latin typeface="Segoe UI"/>
              </a:rPr>
              <a:t>APPLICATION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Node.js · PostgreSQL · Redis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87A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804" y="1865376"/>
            <a:ext cx="6007351" cy="3401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m_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68" y="1920240"/>
            <a:ext cx="5897623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34924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150" b="0" i="1">
                <a:solidFill>
                  <a:srgbClr val="5A6B85"/>
                </a:solidFill>
                <a:latin typeface="Segoe UI"/>
              </a:rPr>
              <a:t>31 relational models in six functional domains (Prisma / PostgreSQL)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920240"/>
            <a:ext cx="420624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Typed, auditable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304288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Every trip, fix, notification, and admin action has a schema home — including per-trip trajectory logs used for later analysis.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69480" y="3090672"/>
            <a:ext cx="4114800" cy="0"/>
          </a:xfrm>
          <a:prstGeom prst="line">
            <a:avLst/>
          </a:prstGeom>
          <a:ln w="9525">
            <a:solidFill>
              <a:srgbClr val="C1D3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69480" y="3246120"/>
            <a:ext cx="420624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Redis in two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630168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A short-lived cache for hot reads, and the pub/sub back-plane that lets the realtime tier scale horizontally.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69480" y="4416552"/>
            <a:ext cx="4114800" cy="0"/>
          </a:xfrm>
          <a:prstGeom prst="line">
            <a:avLst/>
          </a:prstGeom>
          <a:ln w="9525">
            <a:solidFill>
              <a:srgbClr val="C1D3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69480" y="4572000"/>
            <a:ext cx="420624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Segoe UI"/>
              </a:rPr>
              <a:t>Authenticated realtime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956048"/>
            <a:ext cx="4206240" cy="8229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Socket connection and room join are both authenticated; per-trip rooms keep client traffic minimal.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2563EB"/>
                </a:solidFill>
                <a:latin typeface="Segoe UI"/>
              </a:rPr>
              <a:t>GPS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Hardware-First by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87A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6400800" cy="2286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92807"/>
            <a:ext cx="45720" cy="2066543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56816"/>
            <a:ext cx="5029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50" b="1" i="0" spc="220">
                <a:solidFill>
                  <a:srgbClr val="1E7A46"/>
                </a:solidFill>
                <a:latin typeface="Segoe UI"/>
              </a:rPr>
              <a:t>PRIMARY — AUTONOMOUS</a:t>
            </a:r>
          </a:p>
        </p:txBody>
      </p:sp>
      <p:pic>
        <p:nvPicPr>
          <p:cNvPr id="11" name="Picture 10" descr="icon_3157739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304288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1640" y="2286000"/>
            <a:ext cx="53949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550" b="1" i="0">
                <a:solidFill>
                  <a:srgbClr val="1A2538"/>
                </a:solidFill>
                <a:latin typeface="Segoe UI"/>
              </a:rPr>
              <a:t>Concox GT06S, hard-wired to the bus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88336"/>
            <a:ext cx="539496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A6B85"/>
                </a:solidFill>
                <a:latin typeface="Segoe UI"/>
              </a:rPr>
              <a:t>Reports to a self-hosted Traccar server over GSM. Requires no driver action, no driver-owned device, and no driver data connection — it simply runs.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401568"/>
            <a:ext cx="539496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Ingestion: WebSocket push (~1 s)  +  8 s REST polling as 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6400800" cy="16916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25696"/>
            <a:ext cx="5029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50" b="1" i="0" spc="220">
                <a:solidFill>
                  <a:srgbClr val="9A6200"/>
                </a:solidFill>
                <a:latin typeface="Segoe UI"/>
              </a:rPr>
              <a:t>OPTIONAL — FALLBACK ONLY</a:t>
            </a:r>
          </a:p>
        </p:txBody>
      </p:sp>
      <p:pic>
        <p:nvPicPr>
          <p:cNvPr id="17" name="Picture 16" descr="icon_55896262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75488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4736592"/>
            <a:ext cx="53949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550" b="1" i="0">
                <a:solidFill>
                  <a:srgbClr val="1A2538"/>
                </a:solidFill>
                <a:latin typeface="Segoe UI"/>
              </a:rPr>
              <a:t>Driver's smartphone (authenticated REST)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138928"/>
            <a:ext cx="539496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A6B85"/>
                </a:solidFill>
                <a:latin typeface="Segoe UI"/>
              </a:rPr>
              <a:t>Used only when no hardware fix is available. Normal operation depends on no phone at all — it supplements the system, it never carries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783080"/>
            <a:ext cx="3840480" cy="41605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43800" y="1892807"/>
            <a:ext cx="45720" cy="3941063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1956816"/>
            <a:ext cx="338328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50" b="1" i="0" spc="220">
                <a:solidFill>
                  <a:srgbClr val="2563EB"/>
                </a:solidFill>
                <a:latin typeface="Segoe UI"/>
              </a:rPr>
              <a:t>SOURCE ARBITRATION</a:t>
            </a:r>
          </a:p>
        </p:txBody>
      </p:sp>
      <p:pic>
        <p:nvPicPr>
          <p:cNvPr id="23" name="Picture 22" descr="icon_715523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331720"/>
            <a:ext cx="502920" cy="50292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7827264" y="312724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3017520"/>
            <a:ext cx="3200400" cy="777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Every fix tagged with source, device time, and server time</a:t>
            </a:r>
          </a:p>
        </p:txBody>
      </p:sp>
      <p:sp>
        <p:nvSpPr>
          <p:cNvPr id="26" name="Oval 25"/>
          <p:cNvSpPr/>
          <p:nvPr/>
        </p:nvSpPr>
        <p:spPr>
          <a:xfrm>
            <a:off x="7827264" y="396849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3858768"/>
            <a:ext cx="3200400" cy="777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Health score + priority rank select one canonical position</a:t>
            </a:r>
          </a:p>
        </p:txBody>
      </p:sp>
      <p:sp>
        <p:nvSpPr>
          <p:cNvPr id="28" name="Oval 27"/>
          <p:cNvSpPr/>
          <p:nvPr/>
        </p:nvSpPr>
        <p:spPr>
          <a:xfrm>
            <a:off x="7827264" y="480974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4700016"/>
            <a:ext cx="3200400" cy="777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A healthy tracker always wins; hand-over is per-fix and invisible to riders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144768"/>
            <a:ext cx="1056132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1">
                <a:solidFill>
                  <a:srgbClr val="5A6B85"/>
                </a:solidFill>
                <a:latin typeface="Segoe UI"/>
              </a:rPr>
              <a:t>Filters, arbitration and thresholds are operator-configurable at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2563EB"/>
                </a:solidFill>
                <a:latin typeface="Segoe UI"/>
              </a:rP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Four Gates Before a Fix Moves the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87A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2487168" cy="2377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5815710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944" y="214884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788920"/>
            <a:ext cx="221284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450" b="1" i="0">
                <a:solidFill>
                  <a:srgbClr val="2563EB"/>
                </a:solidFill>
                <a:latin typeface="Segoe UI"/>
              </a:rPr>
              <a:t>Accuracy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2157984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soft-reject worse than 120 m;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hard-reject worse than 250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788920"/>
            <a:ext cx="27432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600" b="0" i="0">
                <a:solidFill>
                  <a:srgbClr val="5A6B85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1874519"/>
            <a:ext cx="2487168" cy="2377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6437497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214884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85032" y="2788920"/>
            <a:ext cx="221284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450" b="1" i="0">
                <a:solidFill>
                  <a:srgbClr val="2563EB"/>
                </a:solidFill>
                <a:latin typeface="Segoe UI"/>
              </a:rPr>
              <a:t>Teleport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3218688"/>
            <a:ext cx="2157984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reject implied inter-fix speeds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above 120 km/h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788920"/>
            <a:ext cx="27432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600" b="0" i="0">
                <a:solidFill>
                  <a:srgbClr val="5A6B85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874519"/>
            <a:ext cx="2487168" cy="2377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92728915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214884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9944" y="2788920"/>
            <a:ext cx="221284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450" b="1" i="0">
                <a:solidFill>
                  <a:srgbClr val="2563EB"/>
                </a:solidFill>
                <a:latin typeface="Segoe UI"/>
              </a:rPr>
              <a:t>Jitter suppressor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218688"/>
            <a:ext cx="2157984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below 4 m of movement the bus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is treated as stationary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788920"/>
            <a:ext cx="27432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600" b="0" i="0">
                <a:solidFill>
                  <a:srgbClr val="5A6B85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874519"/>
            <a:ext cx="2487168" cy="2377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46115116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14884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34856" y="2788920"/>
            <a:ext cx="221284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450" b="1" i="0">
                <a:solidFill>
                  <a:srgbClr val="2563EB"/>
                </a:solidFill>
                <a:latin typeface="Segoe UI"/>
              </a:rPr>
              <a:t>Freeze /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3218688"/>
            <a:ext cx="2157984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marker holds under poor accuracy;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resumes on confident displacement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709160"/>
            <a:ext cx="10561320" cy="1234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4818888"/>
            <a:ext cx="45720" cy="1014984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919472"/>
            <a:ext cx="1005840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2538"/>
                </a:solidFill>
                <a:latin typeface="Segoe UI"/>
              </a:rPr>
              <a:t>Thresholds are deliberately conservative — 120 km/h exceeds any plausible route speed and 4 m sits above the tracker's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A2538"/>
                </a:solidFill>
                <a:latin typeface="Segoe UI"/>
              </a:rPr>
              <a:t>urban scatter — so legitimate motion is never suppressed. Accepted speeds feed a per-trip rolling average: the ETA input.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2563EB"/>
                </a:solidFill>
                <a:latin typeface="Segoe UI"/>
              </a:rPr>
              <a:t>ARRIVAL-TIME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A Geometric Estimator That Needs No Training Data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87A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2286000"/>
            <a:ext cx="9784080" cy="0"/>
          </a:xfrm>
          <a:prstGeom prst="line">
            <a:avLst/>
          </a:prstGeom>
          <a:ln w="33020">
            <a:solidFill>
              <a:srgbClr val="1F3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06424" y="2203704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32304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000" b="0" i="0">
                <a:solidFill>
                  <a:srgbClr val="5A6B85"/>
                </a:solidFill>
                <a:latin typeface="Segoe UI"/>
              </a:rPr>
              <a:t>stop 1</a:t>
            </a:r>
          </a:p>
        </p:txBody>
      </p:sp>
      <p:sp>
        <p:nvSpPr>
          <p:cNvPr id="11" name="Oval 10"/>
          <p:cNvSpPr/>
          <p:nvPr/>
        </p:nvSpPr>
        <p:spPr>
          <a:xfrm>
            <a:off x="4306824" y="2203704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432304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000" b="0" i="0">
                <a:solidFill>
                  <a:srgbClr val="5A6B85"/>
                </a:solidFill>
                <a:latin typeface="Segoe UI"/>
              </a:rPr>
              <a:t>stop 2</a:t>
            </a:r>
          </a:p>
        </p:txBody>
      </p:sp>
      <p:sp>
        <p:nvSpPr>
          <p:cNvPr id="13" name="Oval 12"/>
          <p:cNvSpPr/>
          <p:nvPr/>
        </p:nvSpPr>
        <p:spPr>
          <a:xfrm>
            <a:off x="7507224" y="2203704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432304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000" b="0" i="0">
                <a:solidFill>
                  <a:srgbClr val="5A6B85"/>
                </a:solidFill>
                <a:latin typeface="Segoe UI"/>
              </a:rPr>
              <a:t>stop 3</a:t>
            </a:r>
          </a:p>
        </p:txBody>
      </p:sp>
      <p:sp>
        <p:nvSpPr>
          <p:cNvPr id="15" name="Oval 14"/>
          <p:cNvSpPr/>
          <p:nvPr/>
        </p:nvSpPr>
        <p:spPr>
          <a:xfrm>
            <a:off x="10890504" y="2203704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2432304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000" b="0" i="0">
                <a:solidFill>
                  <a:srgbClr val="5A6B85"/>
                </a:solidFill>
                <a:latin typeface="Segoe UI"/>
              </a:rPr>
              <a:t>stop 4</a:t>
            </a:r>
          </a:p>
        </p:txBody>
      </p:sp>
      <p:sp>
        <p:nvSpPr>
          <p:cNvPr id="17" name="Oval 16"/>
          <p:cNvSpPr/>
          <p:nvPr/>
        </p:nvSpPr>
        <p:spPr>
          <a:xfrm>
            <a:off x="2715768" y="2167128"/>
            <a:ext cx="237744" cy="23774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1783080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Segoe UI"/>
              </a:rPr>
              <a:t>bus, projected onto the route polyline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2852928"/>
            <a:ext cx="4754880" cy="0"/>
          </a:xfrm>
          <a:prstGeom prst="line">
            <a:avLst/>
          </a:prstGeom>
          <a:ln w="22860">
            <a:solidFill>
              <a:srgbClr val="1E7A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08960" y="2962656"/>
            <a:ext cx="42062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050" b="0" i="0">
                <a:solidFill>
                  <a:srgbClr val="1E7A46"/>
                </a:solidFill>
                <a:latin typeface="Segoe UI"/>
              </a:rPr>
              <a:t>remaining along-path distance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3520440"/>
            <a:ext cx="7955279" cy="7772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12463"/>
            <a:ext cx="7955279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700" b="1" i="0">
                <a:solidFill>
                  <a:srgbClr val="1A2538"/>
                </a:solidFill>
                <a:latin typeface="Segoe UI"/>
              </a:rPr>
              <a:t>ETA to each stop   =   remaining distance   ÷   rolling-average speed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09160"/>
            <a:ext cx="3401568" cy="1234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864608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Segoe UI"/>
              </a:rPr>
              <a:t>Speed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521208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rolling average used when ≥ 5 km/h;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otherwise a configurable 20 km/h default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4709160"/>
            <a:ext cx="3401568" cy="1234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4864608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Segoe UI"/>
              </a:rPr>
              <a:t>Arrival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521208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a stop is reached inside an 80 m radius —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subscribed riders get a push notification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4709160"/>
            <a:ext cx="3401568" cy="12344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864608"/>
            <a:ext cx="301752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Segoe UI"/>
              </a:rPr>
              <a:t>Honest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21208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every estimate carries a HIGH / MEDIUM / LOW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label from speed-signal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2563EB"/>
                </a:solidFill>
                <a:latin typeface="Segoe UI"/>
              </a:rPr>
              <a:t>PASSENGER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One App, Two Languages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87A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12</a:t>
            </a:r>
          </a:p>
        </p:txBody>
      </p:sp>
      <p:pic>
        <p:nvPicPr>
          <p:cNvPr id="8" name="Picture 7" descr="screens_fr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766" y="1691640"/>
            <a:ext cx="8067706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989320"/>
            <a:ext cx="107442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200" b="0" i="0">
                <a:solidFill>
                  <a:srgbClr val="5A6B85"/>
                </a:solidFill>
                <a:latin typeface="Segoe UI"/>
              </a:rPr>
              <a:t>Live tracking with per-stop ETA      ·      on-route status and speed      ·      today's schedules      ·      English / Bangla toggle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7C3AED"/>
                </a:solidFill>
                <a:latin typeface="Segoe U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A Seven-Week Pilot on a Real Fleet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B69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6035040" cy="41605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56816"/>
            <a:ext cx="5029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50" b="1" i="0" spc="220">
                <a:solidFill>
                  <a:srgbClr val="7C3AED"/>
                </a:solidFill>
                <a:latin typeface="Segoe UI"/>
              </a:rPr>
              <a:t>PILOT DEPLOYMENT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3172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Deployment span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331720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>
                <a:solidFill>
                  <a:srgbClr val="1A2538"/>
                </a:solidFill>
                <a:latin typeface="Segoe UI"/>
              </a:rPr>
              <a:t>7 weeks (6 May – 23 Jun 2026)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78992" y="2734056"/>
            <a:ext cx="5522976" cy="0"/>
          </a:xfrm>
          <a:prstGeom prst="line">
            <a:avLst/>
          </a:prstGeom>
          <a:ln w="6350">
            <a:solidFill>
              <a:srgbClr val="DAC7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8992" y="2830068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Routes / buses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830068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>
                <a:solidFill>
                  <a:srgbClr val="1A2538"/>
                </a:solidFill>
                <a:latin typeface="Segoe UI"/>
              </a:rPr>
              <a:t>9 / 3  (one fitted with the hardware tracker)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8992" y="3232403"/>
            <a:ext cx="5522976" cy="0"/>
          </a:xfrm>
          <a:prstGeom prst="line">
            <a:avLst/>
          </a:prstGeom>
          <a:ln w="6350">
            <a:solidFill>
              <a:srgbClr val="DAC7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3328415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Registered passengers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328415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>
                <a:solidFill>
                  <a:srgbClr val="1A2538"/>
                </a:solidFill>
                <a:latin typeface="Segoe UI"/>
              </a:rPr>
              <a:t>38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78992" y="3730752"/>
            <a:ext cx="5522976" cy="0"/>
          </a:xfrm>
          <a:prstGeom prst="line">
            <a:avLst/>
          </a:prstGeom>
          <a:ln w="6350">
            <a:solidFill>
              <a:srgbClr val="DAC7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78992" y="3826764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Completed trips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826764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>
                <a:solidFill>
                  <a:srgbClr val="1A2538"/>
                </a:solidFill>
                <a:latin typeface="Segoe UI"/>
              </a:rPr>
              <a:t>71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78992" y="4229100"/>
            <a:ext cx="5522976" cy="0"/>
          </a:xfrm>
          <a:prstGeom prst="line">
            <a:avLst/>
          </a:prstGeom>
          <a:ln w="6350">
            <a:solidFill>
              <a:srgbClr val="DAC7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78992" y="4325112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Raw GPS reports ingested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4325112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>
                <a:solidFill>
                  <a:srgbClr val="1A2538"/>
                </a:solidFill>
                <a:latin typeface="Segoe UI"/>
              </a:rPr>
              <a:t>46,548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78992" y="4727448"/>
            <a:ext cx="5522976" cy="0"/>
          </a:xfrm>
          <a:prstGeom prst="line">
            <a:avLst/>
          </a:prstGeom>
          <a:ln w="6350">
            <a:solidFill>
              <a:srgbClr val="DAC7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78992" y="482346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In-trip fixes retained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4823460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>
                <a:solidFill>
                  <a:srgbClr val="1A2538"/>
                </a:solidFill>
                <a:latin typeface="Segoe UI"/>
              </a:rPr>
              <a:t>864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78992" y="5225796"/>
            <a:ext cx="5522976" cy="0"/>
          </a:xfrm>
          <a:prstGeom prst="line">
            <a:avLst/>
          </a:prstGeom>
          <a:ln w="6350">
            <a:solidFill>
              <a:srgbClr val="DAC7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78992" y="5321808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0" i="0">
                <a:solidFill>
                  <a:srgbClr val="5A6B85"/>
                </a:solidFill>
                <a:latin typeface="Segoe UI"/>
              </a:rPr>
              <a:t>Mean GPS fixes per trip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5321808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>
                <a:solidFill>
                  <a:srgbClr val="1A2538"/>
                </a:solidFill>
                <a:latin typeface="Segoe UI"/>
              </a:rPr>
              <a:t>37.6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9480" y="1783080"/>
            <a:ext cx="4114800" cy="41605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69480" y="1892807"/>
            <a:ext cx="45720" cy="3941063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1956816"/>
            <a:ext cx="34747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50" b="1" i="0" spc="220">
                <a:solidFill>
                  <a:srgbClr val="7C3AED"/>
                </a:solidFill>
                <a:latin typeface="Segoe UI"/>
              </a:rPr>
              <a:t>METHODOLOGY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331720"/>
            <a:ext cx="3611880" cy="731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2538"/>
                </a:solidFill>
                <a:latin typeface="Segoe UI"/>
              </a:rPr>
              <a:t>All metrics come from the production database — no simulation, no synthetic data.</a:t>
            </a:r>
          </a:p>
        </p:txBody>
      </p:sp>
      <p:sp>
        <p:nvSpPr>
          <p:cNvPr id="34" name="Oval 33"/>
          <p:cNvSpPr/>
          <p:nvPr/>
        </p:nvSpPr>
        <p:spPr>
          <a:xfrm>
            <a:off x="7552944" y="33741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0688" y="3264408"/>
            <a:ext cx="3383280" cy="777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Latency: device timestamp vs. server receipt, per fix</a:t>
            </a:r>
          </a:p>
        </p:txBody>
      </p:sp>
      <p:sp>
        <p:nvSpPr>
          <p:cNvPr id="36" name="Oval 35"/>
          <p:cNvSpPr/>
          <p:nvPr/>
        </p:nvSpPr>
        <p:spPr>
          <a:xfrm>
            <a:off x="7552944" y="4178808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0688" y="4069080"/>
            <a:ext cx="3383280" cy="777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Fallback usage: canonical source recorded per trip</a:t>
            </a:r>
          </a:p>
        </p:txBody>
      </p:sp>
      <p:sp>
        <p:nvSpPr>
          <p:cNvPr id="38" name="Oval 37"/>
          <p:cNvSpPr/>
          <p:nvPr/>
        </p:nvSpPr>
        <p:spPr>
          <a:xfrm>
            <a:off x="7552944" y="4983480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90688" y="4873752"/>
            <a:ext cx="3383280" cy="777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ETA: every prediction logged against recorded stop arrivals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7C3AED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What the Operational Data Shows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B692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64208"/>
            <a:ext cx="5138928" cy="221284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1810512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00" b="1" i="0" spc="180">
                <a:solidFill>
                  <a:srgbClr val="7C3AED"/>
                </a:solidFill>
                <a:latin typeface="Segoe UI"/>
              </a:rPr>
              <a:t>POSITION-ACQUISITION LATENCY  (46,286 fixes)</a:t>
            </a:r>
          </a:p>
        </p:txBody>
      </p:sp>
      <p:pic>
        <p:nvPicPr>
          <p:cNvPr id="10" name="Picture 9" descr="ch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45" y="2103120"/>
            <a:ext cx="3681669" cy="1691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6208" y="1664208"/>
            <a:ext cx="5138928" cy="221284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00" b="1" i="0" spc="180">
                <a:solidFill>
                  <a:srgbClr val="7C3AED"/>
                </a:solidFill>
                <a:latin typeface="Segoe UI"/>
              </a:rPr>
              <a:t>TRIPS BY CANONICAL SOURCE  (70 trips)</a:t>
            </a:r>
          </a:p>
        </p:txBody>
      </p:sp>
      <p:pic>
        <p:nvPicPr>
          <p:cNvPr id="13" name="Picture 12" descr="ch_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05049"/>
            <a:ext cx="2148840" cy="1496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0" y="2212848"/>
            <a:ext cx="2560320" cy="15544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The 36% largely reflects the two buses not yet fitted with trackers — the design stays hardware-first; no driver device is needed in normal operation.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41648"/>
            <a:ext cx="5138928" cy="221284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187952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00" b="1" i="0" spc="180">
                <a:solidFill>
                  <a:srgbClr val="7C3AED"/>
                </a:solidFill>
                <a:latin typeface="Segoe UI"/>
              </a:rPr>
              <a:t>ARRIVAL-ALERT ENGAGEMENT</a:t>
            </a:r>
          </a:p>
        </p:txBody>
      </p:sp>
      <p:pic>
        <p:nvPicPr>
          <p:cNvPr id="17" name="Picture 16" descr="ch_not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860" y="4462272"/>
            <a:ext cx="1737360" cy="1737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46120" y="4617720"/>
            <a:ext cx="2560320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A6B85"/>
                </a:solidFill>
                <a:latin typeface="Segoe UI"/>
              </a:rPr>
              <a:t>36 of 45 notifications delivered during the pilot were read — the passenger-facing alerts were genuinely used.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4041648"/>
            <a:ext cx="5138928" cy="221284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8" y="4151376"/>
            <a:ext cx="45720" cy="1993391"/>
          </a:xfrm>
          <a:prstGeom prst="roundRect">
            <a:avLst>
              <a:gd name="adj" fmla="val 50000"/>
            </a:avLst>
          </a:prstGeom>
          <a:solidFill>
            <a:srgbClr val="9A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187952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00" b="1" i="0" spc="180">
                <a:solidFill>
                  <a:srgbClr val="9A6200"/>
                </a:solidFill>
                <a:latin typeface="Segoe UI"/>
              </a:rPr>
              <a:t>ETA ACCURACY — MEASUREMENT 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572000"/>
            <a:ext cx="4663440" cy="9144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538"/>
                </a:solidFill>
                <a:latin typeface="Segoe UI"/>
              </a:rPr>
              <a:t>Every prediction is logged against the recorded stop arrival, so mean absolute error can be measured as operational data accumulates.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5623560"/>
            <a:ext cx="466344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00" b="0" i="1">
                <a:solidFill>
                  <a:srgbClr val="5A6B85"/>
                </a:solidFill>
                <a:latin typeface="Segoe UI"/>
              </a:rPr>
              <a:t>We publish the mechanism — not an invented number.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15803D"/>
                </a:solidFill>
                <a:latin typeface="Segoe UI"/>
              </a:rPr>
              <a:t>A FINDING WE DID NOT HIDE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98% of Reports Were Idle Waste — So We Fixed 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7EB9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300" b="0" i="0">
                <a:solidFill>
                  <a:srgbClr val="1A2538"/>
                </a:solidFill>
                <a:latin typeface="Segoe UI"/>
              </a:rPr>
              <a:t>The fixed-interval tracker kept transmitting every 5 s while buses sat parked — overnight and across weekends.</a:t>
            </a:r>
          </a:p>
        </p:txBody>
      </p:sp>
      <p:pic>
        <p:nvPicPr>
          <p:cNvPr id="9" name="Picture 8" descr="ch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729" y="2011680"/>
            <a:ext cx="5571780" cy="1600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3794760"/>
            <a:ext cx="6126480" cy="2286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941063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00" b="1" i="0" spc="180">
                <a:solidFill>
                  <a:srgbClr val="15803D"/>
                </a:solidFill>
                <a:latin typeface="Segoe UI"/>
              </a:rPr>
              <a:t>TWO-SIDED OPTIMIZATION  (TABLE II)</a:t>
            </a:r>
          </a:p>
        </p:txBody>
      </p:sp>
      <p:pic>
        <p:nvPicPr>
          <p:cNvPr id="12" name="Picture 11" descr="ch_interv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898" y="4224528"/>
            <a:ext cx="2579483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46320" y="4434840"/>
            <a:ext cx="1965960" cy="15544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A6B85"/>
                </a:solidFill>
                <a:latin typeface="Segoe UI"/>
              </a:rPr>
              <a:t>Set on the device itself over SMS (TIMER,5,300#); verified from two independent logs — Traccar positions and the server's own ingest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794760"/>
            <a:ext cx="4206240" cy="2286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78040" y="3904488"/>
            <a:ext cx="45720" cy="2066543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3941063"/>
            <a:ext cx="35661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00" b="1" i="0" spc="200">
                <a:solidFill>
                  <a:srgbClr val="1E7A46"/>
                </a:solidFill>
                <a:latin typeface="Segoe UI"/>
              </a:rPr>
              <a:t>AFTER THE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4315968"/>
            <a:ext cx="3703320" cy="10058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A2538"/>
                </a:solidFill>
                <a:latin typeface="Segoe UI"/>
              </a:rPr>
              <a:t>The server now ingests dense fixes only during active trips, plus a sparse five-minute parked heartbeat per bus.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5440680"/>
            <a:ext cx="3703320" cy="548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50" b="0" i="0">
                <a:solidFill>
                  <a:srgbClr val="5A6B85"/>
                </a:solidFill>
                <a:latin typeface="Segoe UI"/>
              </a:rPr>
              <a:t>On-trip tracking and the WebSocket push path were unaffected.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15803D"/>
                </a:solidFill>
                <a:latin typeface="Segoe UI"/>
              </a:rPr>
              <a:t>WHAT CHANGES FOR A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From Guessing to Knowing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7EB9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16</a:t>
            </a:r>
          </a:p>
        </p:txBody>
      </p:sp>
      <p:pic>
        <p:nvPicPr>
          <p:cNvPr id="8" name="Picture 7" descr="story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" y="1737360"/>
            <a:ext cx="579120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65248" y="3192399"/>
            <a:ext cx="1331976" cy="56464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 i="0">
                <a:solidFill>
                  <a:srgbClr val="1E7A46"/>
                </a:solidFill>
                <a:latin typeface="Segoe UI"/>
              </a:rPr>
              <a:t>Bus is 6 min</a:t>
            </a:r>
          </a:p>
          <a:p>
            <a:pPr algn="ctr"/>
            <a:r>
              <a:rPr sz="1050" b="1" i="0">
                <a:solidFill>
                  <a:srgbClr val="1E7A46"/>
                </a:solidFill>
                <a:latin typeface="Segoe UI"/>
              </a:rPr>
              <a:t>from my stop</a:t>
            </a:r>
          </a:p>
        </p:txBody>
      </p:sp>
      <p:sp>
        <p:nvSpPr>
          <p:cNvPr id="10" name="Oval 9"/>
          <p:cNvSpPr/>
          <p:nvPr/>
        </p:nvSpPr>
        <p:spPr>
          <a:xfrm>
            <a:off x="6949440" y="1847088"/>
            <a:ext cx="402336" cy="402336"/>
          </a:xfrm>
          <a:prstGeom prst="ellipse">
            <a:avLst/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97380"/>
            <a:ext cx="402336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828800"/>
            <a:ext cx="38404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500" b="1" i="0">
                <a:solidFill>
                  <a:srgbClr val="1A2538"/>
                </a:solidFill>
                <a:latin typeface="Segoe UI"/>
              </a:rPr>
              <a:t>Check from 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212848"/>
            <a:ext cx="3840480" cy="8229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B85"/>
                </a:solidFill>
                <a:latin typeface="Segoe UI"/>
              </a:rPr>
              <a:t>The live map and per-stop ETA answer the question before leaving the house — even before the trip starts, the bus state is visible.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3145536"/>
            <a:ext cx="402336" cy="402336"/>
          </a:xfrm>
          <a:prstGeom prst="ellipse">
            <a:avLst/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195828"/>
            <a:ext cx="402336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127248"/>
            <a:ext cx="38404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500" b="1" i="0">
                <a:solidFill>
                  <a:srgbClr val="1A2538"/>
                </a:solidFill>
                <a:latin typeface="Segoe UI"/>
              </a:rPr>
              <a:t>Leave at the right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511296"/>
            <a:ext cx="3840480" cy="8229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B85"/>
                </a:solidFill>
                <a:latin typeface="Segoe UI"/>
              </a:rPr>
              <a:t>No more guessing at the stop: the countdown is to the rider's own stop, with an honest confidence label.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0" y="4443983"/>
            <a:ext cx="402336" cy="402336"/>
          </a:xfrm>
          <a:prstGeom prst="ellipse">
            <a:avLst/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494276"/>
            <a:ext cx="402336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425696"/>
            <a:ext cx="38404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500" b="1" i="0">
                <a:solidFill>
                  <a:srgbClr val="1A2538"/>
                </a:solidFill>
                <a:latin typeface="Segoe UI"/>
              </a:rPr>
              <a:t>Board on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4809744"/>
            <a:ext cx="3840480" cy="8229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A6B85"/>
                </a:solidFill>
                <a:latin typeface="Segoe UI"/>
              </a:rPr>
              <a:t>An 80 m arrival alert nudges the rider as the bus approaches — during the pilot, 80% of these alerts were read.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53328"/>
            <a:ext cx="1056132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400" b="1" i="0">
                <a:solidFill>
                  <a:srgbClr val="1E7A46"/>
                </a:solidFill>
                <a:latin typeface="Segoe UI"/>
              </a:rPr>
              <a:t>No guessing   ·   no missed bus   ·   the map is never blank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475569"/>
                </a:solidFill>
                <a:latin typeface="Segoe UI"/>
              </a:rPr>
              <a:t>READ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Limitations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99A1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61320" cy="9144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20240"/>
            <a:ext cx="347472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400" b="1" i="0">
                <a:solidFill>
                  <a:srgbClr val="475569"/>
                </a:solidFill>
                <a:latin typeface="Segoe UI"/>
              </a:rPr>
              <a:t>Small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49224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One campus, three buses, one hardware tracker, seven weeks — a feasibility demonstration, not a city-scale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07791"/>
            <a:ext cx="10561320" cy="9144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999232"/>
            <a:ext cx="347472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400" b="1" i="0">
                <a:solidFill>
                  <a:srgbClr val="475569"/>
                </a:solidFill>
                <a:latin typeface="Segoe UI"/>
              </a:rPr>
              <a:t>Per-fix accuracy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99232"/>
            <a:ext cx="649224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The GT06S does not report a per-fix accuracy value, so quality filtering is evaluated at the trip level.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86783"/>
            <a:ext cx="10561320" cy="9144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078223"/>
            <a:ext cx="347472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400" b="1" i="0">
                <a:solidFill>
                  <a:srgbClr val="475569"/>
                </a:solidFill>
                <a:latin typeface="Segoe UI"/>
              </a:rPr>
              <a:t>ETA error still accumulating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078223"/>
            <a:ext cx="649224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The measurement pipeline is deployed; the mean absolute error is reported as operational data grows.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65776"/>
            <a:ext cx="10561320" cy="9144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157216"/>
            <a:ext cx="347472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400" b="1" i="0">
                <a:solidFill>
                  <a:srgbClr val="475569"/>
                </a:solidFill>
                <a:latin typeface="Segoe UI"/>
              </a:rPr>
              <a:t>Limited schedule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5157216"/>
            <a:ext cx="6492240" cy="7315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5A6B85"/>
                </a:solidFill>
                <a:latin typeface="Segoe UI"/>
              </a:rPr>
              <a:t>Incomplete timetable association during the pilot restricted schedule-adherence analytics.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1056132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1">
                <a:solidFill>
                  <a:srgbClr val="5A6B85"/>
                </a:solidFill>
                <a:latin typeface="Segoe UI"/>
              </a:rPr>
              <a:t>Stating these plainly is deliberate — the paper reports what was measured, not what was hoped.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200" b="1" i="0" spc="300">
                <a:solidFill>
                  <a:srgbClr val="1F3A6E"/>
                </a:solidFill>
                <a:latin typeface="Segoe U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2800" b="1" i="0">
                <a:solidFill>
                  <a:srgbClr val="1A2538"/>
                </a:solidFill>
                <a:latin typeface="Segoe UI"/>
              </a:rPr>
              <a:t>Conclusion &amp; Future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389888"/>
            <a:ext cx="10820095" cy="0"/>
          </a:xfrm>
          <a:prstGeom prst="line">
            <a:avLst/>
          </a:prstGeom>
          <a:ln w="15240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6382512"/>
            <a:ext cx="10820095" cy="0"/>
          </a:xfrm>
          <a:prstGeom prst="line">
            <a:avLst/>
          </a:prstGeom>
          <a:ln w="9525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950" b="0" i="0">
                <a:solidFill>
                  <a:srgbClr val="5A6B85"/>
                </a:solidFill>
                <a:latin typeface="Segoe UI"/>
              </a:rPr>
              <a:t>UniBus Live  ·  NPI University of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55664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/>
            <a:r>
              <a:rPr sz="950" b="0" i="0">
                <a:solidFill>
                  <a:srgbClr val="5A6B85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6035040" cy="42062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92807"/>
            <a:ext cx="45720" cy="3986783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56816"/>
            <a:ext cx="5029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50" b="1" i="0" spc="220">
                <a:solidFill>
                  <a:srgbClr val="15803D"/>
                </a:solidFill>
                <a:latin typeface="Segoe UI"/>
              </a:rPr>
              <a:t>WHAT WE SHOWED</a:t>
            </a:r>
          </a:p>
        </p:txBody>
      </p:sp>
      <p:sp>
        <p:nvSpPr>
          <p:cNvPr id="11" name="Oval 10"/>
          <p:cNvSpPr/>
          <p:nvPr/>
        </p:nvSpPr>
        <p:spPr>
          <a:xfrm>
            <a:off x="1115568" y="2395727"/>
            <a:ext cx="82296" cy="8229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2286000"/>
            <a:ext cx="53492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Resilient, low-cost, real-time campus tracking is feasible — demonstrated on a live fleet, not in simulation.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115568" y="3291839"/>
            <a:ext cx="82296" cy="8229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182112"/>
            <a:ext cx="53492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An autonomous hardware tracker can carry the system with zero driver dependence; the optional fallback degraded gracefully when needed.</a:t>
            </a:r>
          </a:p>
        </p:txBody>
      </p:sp>
      <p:sp>
        <p:nvSpPr>
          <p:cNvPr id="15" name="Oval 14"/>
          <p:cNvSpPr/>
          <p:nvPr/>
        </p:nvSpPr>
        <p:spPr>
          <a:xfrm>
            <a:off x="1115568" y="4187952"/>
            <a:ext cx="82296" cy="8229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4078224"/>
            <a:ext cx="53492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A geometric, training-free ETA serves a new deployment from day one, while logging the data a learned model will need.</a:t>
            </a:r>
          </a:p>
        </p:txBody>
      </p:sp>
      <p:sp>
        <p:nvSpPr>
          <p:cNvPr id="17" name="Oval 16"/>
          <p:cNvSpPr/>
          <p:nvPr/>
        </p:nvSpPr>
        <p:spPr>
          <a:xfrm>
            <a:off x="1115568" y="5084064"/>
            <a:ext cx="82296" cy="8229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974336"/>
            <a:ext cx="53492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Idle-reporting waste (98%) was measured, then eliminated: 60× fewer parked transmissions.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783080"/>
            <a:ext cx="4114800" cy="42062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1956816"/>
            <a:ext cx="34747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050" b="1" i="0" spc="220">
                <a:solidFill>
                  <a:srgbClr val="2563EB"/>
                </a:solidFill>
                <a:latin typeface="Segoe UI"/>
              </a:rPr>
              <a:t>FUTURE WORK</a:t>
            </a:r>
          </a:p>
        </p:txBody>
      </p:sp>
      <p:sp>
        <p:nvSpPr>
          <p:cNvPr id="21" name="Oval 20"/>
          <p:cNvSpPr/>
          <p:nvPr/>
        </p:nvSpPr>
        <p:spPr>
          <a:xfrm>
            <a:off x="7552944" y="2441448"/>
            <a:ext cx="82296" cy="82296"/>
          </a:xfrm>
          <a:prstGeom prst="ellipse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2331720"/>
            <a:ext cx="3429000" cy="6858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Learned ETA from the accumulating trajectory history</a:t>
            </a:r>
          </a:p>
        </p:txBody>
      </p:sp>
      <p:sp>
        <p:nvSpPr>
          <p:cNvPr id="23" name="Oval 22"/>
          <p:cNvSpPr/>
          <p:nvPr/>
        </p:nvSpPr>
        <p:spPr>
          <a:xfrm>
            <a:off x="7552944" y="3154679"/>
            <a:ext cx="82296" cy="82296"/>
          </a:xfrm>
          <a:prstGeom prst="ellipse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3044952"/>
            <a:ext cx="3429000" cy="6858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Full timetable integration and schedule-adherence analytics</a:t>
            </a:r>
          </a:p>
        </p:txBody>
      </p:sp>
      <p:sp>
        <p:nvSpPr>
          <p:cNvPr id="25" name="Oval 24"/>
          <p:cNvSpPr/>
          <p:nvPr/>
        </p:nvSpPr>
        <p:spPr>
          <a:xfrm>
            <a:off x="7552944" y="3867912"/>
            <a:ext cx="82296" cy="82296"/>
          </a:xfrm>
          <a:prstGeom prst="ellipse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3758184"/>
            <a:ext cx="3429000" cy="6858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Crowd-sourced occupancy at larger scale</a:t>
            </a:r>
          </a:p>
        </p:txBody>
      </p:sp>
      <p:sp>
        <p:nvSpPr>
          <p:cNvPr id="27" name="Oval 26"/>
          <p:cNvSpPr/>
          <p:nvPr/>
        </p:nvSpPr>
        <p:spPr>
          <a:xfrm>
            <a:off x="7552944" y="4581144"/>
            <a:ext cx="82296" cy="82296"/>
          </a:xfrm>
          <a:prstGeom prst="ellipse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4471416"/>
            <a:ext cx="3429000" cy="6858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Ignition-aware device sleep; distance-based reporting</a:t>
            </a:r>
          </a:p>
        </p:txBody>
      </p:sp>
      <p:sp>
        <p:nvSpPr>
          <p:cNvPr id="29" name="Oval 28"/>
          <p:cNvSpPr/>
          <p:nvPr/>
        </p:nvSpPr>
        <p:spPr>
          <a:xfrm>
            <a:off x="7552944" y="5294376"/>
            <a:ext cx="82296" cy="82296"/>
          </a:xfrm>
          <a:prstGeom prst="ellipse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0688" y="5184648"/>
            <a:ext cx="3429000" cy="6858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/>
            <a:r>
              <a:rPr sz="1150" b="0" i="0">
                <a:solidFill>
                  <a:srgbClr val="1A2538"/>
                </a:solidFill>
                <a:latin typeface="Segoe UI"/>
              </a:rPr>
              <a:t>Wider deployment with a formal usability study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8229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4400" b="1" i="0">
                <a:solidFill>
                  <a:srgbClr val="1A2538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700" b="0" i="0">
                <a:solidFill>
                  <a:srgbClr val="1F3A6E"/>
                </a:solidFill>
                <a:latin typeface="Segoe UI"/>
              </a:rPr>
              <a:t>Questions &amp; discussion welcome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23360" y="3977639"/>
            <a:ext cx="4142232" cy="0"/>
          </a:xfrm>
          <a:prstGeom prst="line">
            <a:avLst/>
          </a:prstGeom>
          <a:ln w="15240">
            <a:solidFill>
              <a:srgbClr val="D8DE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5A6B85"/>
                </a:solidFill>
                <a:latin typeface="Segoe UI"/>
              </a:rPr>
              <a:t>UniBus Live — A Real-Time Bilingual University Bus Tracking System</a:t>
            </a:r>
          </a:p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5A6B85"/>
                </a:solidFill>
                <a:latin typeface="Segoe UI"/>
              </a:rPr>
              <a:t>with Resilient Dual-Source GPS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1150" b="0" i="0">
                <a:solidFill>
                  <a:srgbClr val="5A6B85"/>
                </a:solidFill>
                <a:latin typeface="Segoe UI"/>
              </a:rPr>
              <a:t>Department of Computer Science and Engineering · NPI University of Bangladesh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6035040"/>
            <a:ext cx="10543032" cy="0"/>
          </a:xfrm>
          <a:prstGeom prst="line">
            <a:avLst/>
          </a:prstGeom>
          <a:ln w="27940">
            <a:solidFill>
              <a:srgbClr val="E1E7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72668" y="5984748"/>
            <a:ext cx="100584" cy="100584"/>
          </a:xfrm>
          <a:prstGeom prst="ellipse">
            <a:avLst/>
          </a:prstGeom>
          <a:solidFill>
            <a:srgbClr val="D97706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07308" y="5984748"/>
            <a:ext cx="100584" cy="100584"/>
          </a:xfrm>
          <a:prstGeom prst="ellipse">
            <a:avLst/>
          </a:prstGeom>
          <a:solidFill>
            <a:srgbClr val="0F766E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1948" y="5984748"/>
            <a:ext cx="100584" cy="100584"/>
          </a:xfrm>
          <a:prstGeom prst="ellipse">
            <a:avLst/>
          </a:prstGeom>
          <a:solidFill>
            <a:srgbClr val="2563EB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76588" y="5984748"/>
            <a:ext cx="100584" cy="100584"/>
          </a:xfrm>
          <a:prstGeom prst="ellipse">
            <a:avLst/>
          </a:prstGeom>
          <a:solidFill>
            <a:srgbClr val="7C3AED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15700" y="5984748"/>
            <a:ext cx="100584" cy="100584"/>
          </a:xfrm>
          <a:prstGeom prst="ellipse">
            <a:avLst/>
          </a:prstGeom>
          <a:solidFill>
            <a:srgbClr val="1F3A6E"/>
          </a:solidFill>
          <a:ln w="17780">
            <a:solidFill>
              <a:srgbClr val="1F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50424" y="5952744"/>
            <a:ext cx="164592" cy="164592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